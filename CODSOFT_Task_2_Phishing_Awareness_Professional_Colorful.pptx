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417320"/>
            <a:ext cx="5943600" cy="1234440"/>
          </a:xfrm>
        </p:spPr>
        <p:txBody>
          <a:bodyPr/>
          <a:lstStyle/>
          <a:p>
            <a:pPr>
              <a:defRPr b="1" sz="3400">
                <a:solidFill>
                  <a:srgbClr val="0A192F"/>
                </a:solidFill>
                <a:latin typeface="Aptos Display"/>
              </a:defRPr>
            </a:pPr>
            <a:r>
              <a:t>PHISHING AWARENESS PROGRAM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13232" y="2926080"/>
            <a:ext cx="5669280" cy="1463040"/>
          </a:xfrm>
        </p:spPr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5A697D"/>
                </a:solidFill>
                <a:latin typeface="Aptos"/>
              </a:defRPr>
            </a:pPr>
            <a:r>
              <a:t>CodSoft Cyber Security Internship</a:t>
            </a:r>
          </a:p>
          <a:p>
            <a:pPr>
              <a:spcAft>
                <a:spcPts val="800"/>
              </a:spcAft>
              <a:defRPr sz="2000">
                <a:solidFill>
                  <a:srgbClr val="5A697D"/>
                </a:solidFill>
                <a:latin typeface="Aptos"/>
              </a:defRPr>
            </a:pPr>
            <a:r>
              <a:t>Task 2</a:t>
            </a:r>
          </a:p>
          <a:p>
            <a:pPr>
              <a:spcAft>
                <a:spcPts val="800"/>
              </a:spcAft>
              <a:defRPr sz="2000">
                <a:solidFill>
                  <a:srgbClr val="5A697D"/>
                </a:solidFill>
                <a:latin typeface="Aptos"/>
              </a:defRPr>
            </a:pPr>
            <a:r>
              <a:t>Prepared by: Kajal Chand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C2634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1C2634"/>
                </a:solidFill>
                <a:latin typeface="Aptos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0" y="384048"/>
            <a:ext cx="12191695" cy="64008"/>
          </a:xfrm>
          <a:prstGeom prst="rect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1C2634"/>
                </a:solidFill>
                <a:latin typeface="Aptos"/>
              </a:defRPr>
            </a:pPr>
          </a:p>
        </p:txBody>
      </p:sp>
      <p:sp>
        <p:nvSpPr>
          <p:cNvPr id="7" name="Rounded Rectangle 6"/>
          <p:cNvSpPr/>
          <p:nvPr/>
        </p:nvSpPr>
        <p:spPr>
          <a:xfrm>
            <a:off x="10469880" y="658368"/>
            <a:ext cx="960120" cy="658368"/>
          </a:xfrm>
          <a:prstGeom prst="roundRect">
            <a:avLst/>
          </a:prstGeom>
          <a:solidFill>
            <a:srgbClr val="DC414B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/>
            </a:pPr>
            <a:r>
              <a:t>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84280" y="6419088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97D"/>
                </a:solidFill>
              </a:defRPr>
            </a:pPr>
            <a: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78040" y="1508760"/>
            <a:ext cx="3977639" cy="4160520"/>
          </a:xfrm>
          <a:prstGeom prst="round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Hexagon 9"/>
          <p:cNvSpPr/>
          <p:nvPr/>
        </p:nvSpPr>
        <p:spPr>
          <a:xfrm>
            <a:off x="8366760" y="2148840"/>
            <a:ext cx="1600200" cy="1828800"/>
          </a:xfrm>
          <a:prstGeom prst="hexagon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600"/>
            </a:pPr>
            <a:r>
              <a:t>🔒</a:t>
            </a:r>
          </a:p>
        </p:txBody>
      </p:sp>
      <p:sp>
        <p:nvSpPr>
          <p:cNvPr id="11" name="Chevron 10"/>
          <p:cNvSpPr/>
          <p:nvPr/>
        </p:nvSpPr>
        <p:spPr>
          <a:xfrm>
            <a:off x="7818120" y="4343400"/>
            <a:ext cx="2697480" cy="594360"/>
          </a:xfrm>
          <a:prstGeom prst="chevron">
            <a:avLst/>
          </a:prstGeom>
          <a:solidFill>
            <a:srgbClr val="DC4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THINK • VERIFY • REPORT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0080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A697D"/>
                </a:solidFill>
                <a:latin typeface="Aptos"/>
              </a:defRPr>
            </a:pPr>
            <a:r>
              <a:t>CODSOFT • CYBER SECURITY INTERNSHIP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58368"/>
            <a:ext cx="10789920" cy="640080"/>
          </a:xfrm>
        </p:spPr>
        <p:txBody>
          <a:bodyPr/>
          <a:lstStyle/>
          <a:p>
            <a:pPr>
              <a:defRPr b="1" sz="2800">
                <a:solidFill>
                  <a:srgbClr val="0A192F"/>
                </a:solidFill>
                <a:latin typeface="Aptos Display"/>
              </a:defRPr>
            </a:pPr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800">
                <a:solidFill>
                  <a:srgbClr val="1C2634"/>
                </a:solidFill>
                <a:latin typeface="Aptos"/>
              </a:defRPr>
            </a:pPr>
            <a:r>
              <a:t>Understand what phishing attacks are</a:t>
            </a:r>
          </a:p>
          <a:p>
            <a:pPr>
              <a:spcAft>
                <a:spcPts val="800"/>
              </a:spcAft>
              <a:defRPr sz="1800">
                <a:solidFill>
                  <a:srgbClr val="1C2634"/>
                </a:solidFill>
                <a:latin typeface="Aptos"/>
              </a:defRPr>
            </a:pPr>
            <a:r>
              <a:t>Learn to identify suspicious emails and fake login pages</a:t>
            </a:r>
          </a:p>
          <a:p>
            <a:pPr>
              <a:spcAft>
                <a:spcPts val="800"/>
              </a:spcAft>
              <a:defRPr sz="1800">
                <a:solidFill>
                  <a:srgbClr val="1C2634"/>
                </a:solidFill>
                <a:latin typeface="Aptos"/>
              </a:defRPr>
            </a:pPr>
            <a:r>
              <a:t>Recognize fraudulent websites and social engineering techniques</a:t>
            </a:r>
          </a:p>
          <a:p>
            <a:pPr>
              <a:spcAft>
                <a:spcPts val="800"/>
              </a:spcAft>
              <a:defRPr sz="1800">
                <a:solidFill>
                  <a:srgbClr val="1C2634"/>
                </a:solidFill>
                <a:latin typeface="Aptos"/>
              </a:defRPr>
            </a:pPr>
            <a:r>
              <a:t>Follow practical steps to stay safe online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C2634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1C2634"/>
                </a:solidFill>
                <a:latin typeface="Aptos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0" y="384048"/>
            <a:ext cx="12191695" cy="64008"/>
          </a:xfrm>
          <a:prstGeom prst="rect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1C2634"/>
                </a:solidFill>
                <a:latin typeface="Aptos"/>
              </a:defRPr>
            </a:pPr>
          </a:p>
        </p:txBody>
      </p:sp>
      <p:sp>
        <p:nvSpPr>
          <p:cNvPr id="7" name="Rounded Rectangle 6"/>
          <p:cNvSpPr/>
          <p:nvPr/>
        </p:nvSpPr>
        <p:spPr>
          <a:xfrm>
            <a:off x="10469880" y="658368"/>
            <a:ext cx="960120" cy="658368"/>
          </a:xfrm>
          <a:prstGeom prst="roundRect">
            <a:avLst/>
          </a:prstGeom>
          <a:solidFill>
            <a:srgbClr val="195DB4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/>
            </a:pPr>
            <a:r>
              <a:t>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84280" y="6419088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97D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0080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A697D"/>
                </a:solidFill>
                <a:latin typeface="Aptos"/>
              </a:defRPr>
            </a:pPr>
            <a:r>
              <a:t>CODSOFT • CYBER SECURITY INTERNSHIP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58368"/>
            <a:ext cx="10789920" cy="640080"/>
          </a:xfrm>
        </p:spPr>
        <p:txBody>
          <a:bodyPr/>
          <a:lstStyle/>
          <a:p>
            <a:pPr>
              <a:defRPr b="1" sz="2800">
                <a:solidFill>
                  <a:srgbClr val="0A192F"/>
                </a:solidFill>
                <a:latin typeface="Aptos Display"/>
              </a:defRPr>
            </a:pPr>
            <a:r>
              <a:t>WHAT IS PHISHING?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800">
                <a:solidFill>
                  <a:srgbClr val="1C2634"/>
                </a:solidFill>
                <a:latin typeface="Aptos"/>
              </a:defRPr>
            </a:pPr>
            <a:r>
              <a:t>Phishing is a cyber attack that attempts to trick users into revealing sensitive information.</a:t>
            </a:r>
          </a:p>
          <a:p>
            <a:pPr>
              <a:spcAft>
                <a:spcPts val="800"/>
              </a:spcAft>
              <a:defRPr sz="1800">
                <a:solidFill>
                  <a:srgbClr val="1C2634"/>
                </a:solidFill>
                <a:latin typeface="Aptos"/>
              </a:defRPr>
            </a:pPr>
            <a:r>
              <a:t>Attackers commonly use fake messages, websites, or login pages.</a:t>
            </a:r>
          </a:p>
          <a:p>
            <a:pPr>
              <a:spcAft>
                <a:spcPts val="800"/>
              </a:spcAft>
              <a:defRPr sz="1800">
                <a:solidFill>
                  <a:srgbClr val="1C2634"/>
                </a:solidFill>
                <a:latin typeface="Aptos"/>
              </a:defRPr>
            </a:pPr>
            <a:r>
              <a:t>The goal may be to steal passwords, financial information, or account details.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C2634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1C2634"/>
                </a:solidFill>
                <a:latin typeface="Aptos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0" y="384048"/>
            <a:ext cx="12191695" cy="64008"/>
          </a:xfrm>
          <a:prstGeom prst="rect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1C2634"/>
                </a:solidFill>
                <a:latin typeface="Aptos"/>
              </a:defRPr>
            </a:pPr>
          </a:p>
        </p:txBody>
      </p:sp>
      <p:sp>
        <p:nvSpPr>
          <p:cNvPr id="7" name="Rounded Rectangle 6"/>
          <p:cNvSpPr/>
          <p:nvPr/>
        </p:nvSpPr>
        <p:spPr>
          <a:xfrm>
            <a:off x="10469880" y="658368"/>
            <a:ext cx="960120" cy="658368"/>
          </a:xfrm>
          <a:prstGeom prst="roundRect">
            <a:avLst/>
          </a:prstGeom>
          <a:solidFill>
            <a:srgbClr val="DC414B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/>
            </a:pPr>
            <a:r>
              <a:t>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84280" y="6419088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97D"/>
                </a:solidFill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0080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A697D"/>
                </a:solidFill>
                <a:latin typeface="Aptos"/>
              </a:defRPr>
            </a:pPr>
            <a:r>
              <a:t>CODSOFT • CYBER SECURITY INTERNSHIP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58368"/>
            <a:ext cx="10789920" cy="640080"/>
          </a:xfrm>
        </p:spPr>
        <p:txBody>
          <a:bodyPr/>
          <a:lstStyle/>
          <a:p>
            <a:pPr>
              <a:defRPr b="1" sz="2800">
                <a:solidFill>
                  <a:srgbClr val="0A192F"/>
                </a:solidFill>
                <a:latin typeface="Aptos Display"/>
              </a:defRPr>
            </a:pPr>
            <a:r>
              <a:t>HOW TO IDENTIFY SUSPICIOUS EMAILS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800">
                <a:solidFill>
                  <a:srgbClr val="1C2634"/>
                </a:solidFill>
                <a:latin typeface="Aptos"/>
              </a:defRPr>
            </a:pPr>
            <a:r>
              <a:t>Check the sender address carefully</a:t>
            </a:r>
          </a:p>
          <a:p>
            <a:pPr>
              <a:spcAft>
                <a:spcPts val="800"/>
              </a:spcAft>
              <a:defRPr sz="1800">
                <a:solidFill>
                  <a:srgbClr val="1C2634"/>
                </a:solidFill>
                <a:latin typeface="Aptos"/>
              </a:defRPr>
            </a:pPr>
            <a:r>
              <a:t>Be cautious of urgent or threatening language</a:t>
            </a:r>
          </a:p>
          <a:p>
            <a:pPr>
              <a:spcAft>
                <a:spcPts val="800"/>
              </a:spcAft>
              <a:defRPr sz="1800">
                <a:solidFill>
                  <a:srgbClr val="1C2634"/>
                </a:solidFill>
                <a:latin typeface="Aptos"/>
              </a:defRPr>
            </a:pPr>
            <a:r>
              <a:t>Do not open unexpected attachments</a:t>
            </a:r>
          </a:p>
          <a:p>
            <a:pPr>
              <a:spcAft>
                <a:spcPts val="800"/>
              </a:spcAft>
              <a:defRPr sz="1800">
                <a:solidFill>
                  <a:srgbClr val="1C2634"/>
                </a:solidFill>
                <a:latin typeface="Aptos"/>
              </a:defRPr>
            </a:pPr>
            <a:r>
              <a:t>Hover over links and check where they lead</a:t>
            </a:r>
          </a:p>
          <a:p>
            <a:pPr>
              <a:spcAft>
                <a:spcPts val="800"/>
              </a:spcAft>
              <a:defRPr sz="1800">
                <a:solidFill>
                  <a:srgbClr val="1C2634"/>
                </a:solidFill>
                <a:latin typeface="Aptos"/>
              </a:defRPr>
            </a:pPr>
            <a:r>
              <a:t>Look for unusual spelling, grammar, or requests for sensitive information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C2634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1C2634"/>
                </a:solidFill>
                <a:latin typeface="Aptos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0" y="384048"/>
            <a:ext cx="12191695" cy="64008"/>
          </a:xfrm>
          <a:prstGeom prst="rect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1C2634"/>
                </a:solidFill>
                <a:latin typeface="Aptos"/>
              </a:defRPr>
            </a:pPr>
          </a:p>
        </p:txBody>
      </p:sp>
      <p:sp>
        <p:nvSpPr>
          <p:cNvPr id="7" name="Rounded Rectangle 6"/>
          <p:cNvSpPr/>
          <p:nvPr/>
        </p:nvSpPr>
        <p:spPr>
          <a:xfrm>
            <a:off x="10469880" y="658368"/>
            <a:ext cx="960120" cy="658368"/>
          </a:xfrm>
          <a:prstGeom prst="roundRect">
            <a:avLst/>
          </a:prstGeom>
          <a:solidFill>
            <a:srgbClr val="DC414B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/>
            </a:pPr>
            <a:r>
              <a:t>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84280" y="6419088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97D"/>
                </a:solidFill>
              </a:defRPr>
            </a:pPr>
            <a: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0080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A697D"/>
                </a:solidFill>
                <a:latin typeface="Aptos"/>
              </a:defRPr>
            </a:pPr>
            <a:r>
              <a:t>CODSOFT • CYBER SECURITY INTERNSHIP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58368"/>
            <a:ext cx="10789920" cy="640080"/>
          </a:xfrm>
        </p:spPr>
        <p:txBody>
          <a:bodyPr/>
          <a:lstStyle/>
          <a:p>
            <a:pPr>
              <a:defRPr b="1" sz="2800">
                <a:solidFill>
                  <a:srgbClr val="0A192F"/>
                </a:solidFill>
                <a:latin typeface="Aptos Display"/>
              </a:defRPr>
            </a:pPr>
            <a:r>
              <a:t>FAKE LOGIN PAGES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800">
                <a:solidFill>
                  <a:srgbClr val="1C2634"/>
                </a:solidFill>
                <a:latin typeface="Aptos"/>
              </a:defRPr>
            </a:pPr>
            <a:r>
              <a:t>Fake login pages imitate trusted websites</a:t>
            </a:r>
          </a:p>
          <a:p>
            <a:pPr>
              <a:spcAft>
                <a:spcPts val="800"/>
              </a:spcAft>
              <a:defRPr sz="1800">
                <a:solidFill>
                  <a:srgbClr val="1C2634"/>
                </a:solidFill>
                <a:latin typeface="Aptos"/>
              </a:defRPr>
            </a:pPr>
            <a:r>
              <a:t>They may use similar logos, colors, and page layouts</a:t>
            </a:r>
          </a:p>
          <a:p>
            <a:pPr>
              <a:spcAft>
                <a:spcPts val="800"/>
              </a:spcAft>
              <a:defRPr sz="1800">
                <a:solidFill>
                  <a:srgbClr val="1C2634"/>
                </a:solidFill>
                <a:latin typeface="Aptos"/>
              </a:defRPr>
            </a:pPr>
            <a:r>
              <a:t>Always verify the website address before entering credentials</a:t>
            </a:r>
          </a:p>
          <a:p>
            <a:pPr>
              <a:spcAft>
                <a:spcPts val="800"/>
              </a:spcAft>
              <a:defRPr sz="1800">
                <a:solidFill>
                  <a:srgbClr val="1C2634"/>
                </a:solidFill>
                <a:latin typeface="Aptos"/>
              </a:defRPr>
            </a:pPr>
            <a:r>
              <a:t>Avoid logging in through links received in unexpected messages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C2634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1C2634"/>
                </a:solidFill>
                <a:latin typeface="Aptos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0" y="384048"/>
            <a:ext cx="12191695" cy="64008"/>
          </a:xfrm>
          <a:prstGeom prst="rect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1C2634"/>
                </a:solidFill>
                <a:latin typeface="Aptos"/>
              </a:defRPr>
            </a:pPr>
          </a:p>
        </p:txBody>
      </p:sp>
      <p:sp>
        <p:nvSpPr>
          <p:cNvPr id="7" name="Rounded Rectangle 6"/>
          <p:cNvSpPr/>
          <p:nvPr/>
        </p:nvSpPr>
        <p:spPr>
          <a:xfrm>
            <a:off x="10469880" y="658368"/>
            <a:ext cx="960120" cy="658368"/>
          </a:xfrm>
          <a:prstGeom prst="roundRect">
            <a:avLst/>
          </a:prstGeom>
          <a:solidFill>
            <a:srgbClr val="DC414B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/>
            </a:pPr>
            <a:r>
              <a:t>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84280" y="6419088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97D"/>
                </a:solidFill>
              </a:defRPr>
            </a:pPr>
            <a: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0080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A697D"/>
                </a:solidFill>
                <a:latin typeface="Aptos"/>
              </a:defRPr>
            </a:pPr>
            <a:r>
              <a:t>CODSOFT • CYBER SECURITY INTERNSHIP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58368"/>
            <a:ext cx="10789920" cy="640080"/>
          </a:xfrm>
        </p:spPr>
        <p:txBody>
          <a:bodyPr/>
          <a:lstStyle/>
          <a:p>
            <a:pPr>
              <a:defRPr b="1" sz="2800">
                <a:solidFill>
                  <a:srgbClr val="0A192F"/>
                </a:solidFill>
                <a:latin typeface="Aptos Display"/>
              </a:defRPr>
            </a:pPr>
            <a:r>
              <a:t>FRAUDULENT WEBSITES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800">
                <a:solidFill>
                  <a:srgbClr val="1C2634"/>
                </a:solidFill>
                <a:latin typeface="Aptos"/>
              </a:defRPr>
            </a:pPr>
            <a:r>
              <a:t>Check the domain name carefully</a:t>
            </a:r>
          </a:p>
          <a:p>
            <a:pPr>
              <a:spcAft>
                <a:spcPts val="800"/>
              </a:spcAft>
              <a:defRPr sz="1800">
                <a:solidFill>
                  <a:srgbClr val="1C2634"/>
                </a:solidFill>
                <a:latin typeface="Aptos"/>
              </a:defRPr>
            </a:pPr>
            <a:r>
              <a:t>Be cautious of unfamiliar or misspelled domains</a:t>
            </a:r>
          </a:p>
          <a:p>
            <a:pPr>
              <a:spcAft>
                <a:spcPts val="800"/>
              </a:spcAft>
              <a:defRPr sz="1800">
                <a:solidFill>
                  <a:srgbClr val="1C2634"/>
                </a:solidFill>
                <a:latin typeface="Aptos"/>
              </a:defRPr>
            </a:pPr>
            <a:r>
              <a:t>Do not trust a website only because it looks professional</a:t>
            </a:r>
          </a:p>
          <a:p>
            <a:pPr>
              <a:spcAft>
                <a:spcPts val="800"/>
              </a:spcAft>
              <a:defRPr sz="1800">
                <a:solidFill>
                  <a:srgbClr val="1C2634"/>
                </a:solidFill>
                <a:latin typeface="Aptos"/>
              </a:defRPr>
            </a:pPr>
            <a:r>
              <a:t>Avoid entering personal or payment information on suspicious sites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C2634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1C2634"/>
                </a:solidFill>
                <a:latin typeface="Aptos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0" y="384048"/>
            <a:ext cx="12191695" cy="64008"/>
          </a:xfrm>
          <a:prstGeom prst="rect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1C2634"/>
                </a:solidFill>
                <a:latin typeface="Aptos"/>
              </a:defRPr>
            </a:pPr>
          </a:p>
        </p:txBody>
      </p:sp>
      <p:sp>
        <p:nvSpPr>
          <p:cNvPr id="7" name="Rounded Rectangle 6"/>
          <p:cNvSpPr/>
          <p:nvPr/>
        </p:nvSpPr>
        <p:spPr>
          <a:xfrm>
            <a:off x="10469880" y="658368"/>
            <a:ext cx="960120" cy="658368"/>
          </a:xfrm>
          <a:prstGeom prst="roundRect">
            <a:avLst/>
          </a:prstGeom>
          <a:solidFill>
            <a:srgbClr val="DC414B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/>
            </a:pPr>
            <a:r>
              <a:t>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84280" y="6419088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97D"/>
                </a:solidFill>
              </a:defRPr>
            </a:pPr>
            <a: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0080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A697D"/>
                </a:solidFill>
                <a:latin typeface="Aptos"/>
              </a:defRPr>
            </a:pPr>
            <a:r>
              <a:t>CODSOFT • CYBER SECURITY INTERNSHIP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58368"/>
            <a:ext cx="10789920" cy="640080"/>
          </a:xfrm>
        </p:spPr>
        <p:txBody>
          <a:bodyPr/>
          <a:lstStyle/>
          <a:p>
            <a:pPr>
              <a:defRPr b="1" sz="2800">
                <a:solidFill>
                  <a:srgbClr val="0A192F"/>
                </a:solidFill>
                <a:latin typeface="Aptos Display"/>
              </a:defRPr>
            </a:pPr>
            <a:r>
              <a:t>SOCIAL ENGINEERING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800">
                <a:solidFill>
                  <a:srgbClr val="1C2634"/>
                </a:solidFill>
                <a:latin typeface="Aptos"/>
              </a:defRPr>
            </a:pPr>
            <a:r>
              <a:t>Attackers manipulate people rather than directly attacking systems</a:t>
            </a:r>
          </a:p>
          <a:p>
            <a:pPr>
              <a:spcAft>
                <a:spcPts val="800"/>
              </a:spcAft>
              <a:defRPr sz="1800">
                <a:solidFill>
                  <a:srgbClr val="1C2634"/>
                </a:solidFill>
                <a:latin typeface="Aptos"/>
              </a:defRPr>
            </a:pPr>
            <a:r>
              <a:t>Common tactics include urgency, fear, curiosity, and impersonation</a:t>
            </a:r>
          </a:p>
          <a:p>
            <a:pPr>
              <a:spcAft>
                <a:spcPts val="800"/>
              </a:spcAft>
              <a:defRPr sz="1800">
                <a:solidFill>
                  <a:srgbClr val="1C2634"/>
                </a:solidFill>
                <a:latin typeface="Aptos"/>
              </a:defRPr>
            </a:pPr>
            <a:r>
              <a:t>Attackers may pretend to be banks, companies, friends, or support staff</a:t>
            </a:r>
          </a:p>
          <a:p>
            <a:pPr>
              <a:spcAft>
                <a:spcPts val="800"/>
              </a:spcAft>
              <a:defRPr sz="1800">
                <a:solidFill>
                  <a:srgbClr val="1C2634"/>
                </a:solidFill>
                <a:latin typeface="Aptos"/>
              </a:defRPr>
            </a:pPr>
            <a:r>
              <a:t>Think before responding to unexpected requests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C2634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1C2634"/>
                </a:solidFill>
                <a:latin typeface="Aptos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0" y="384048"/>
            <a:ext cx="12191695" cy="64008"/>
          </a:xfrm>
          <a:prstGeom prst="rect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1C2634"/>
                </a:solidFill>
                <a:latin typeface="Aptos"/>
              </a:defRPr>
            </a:pPr>
          </a:p>
        </p:txBody>
      </p:sp>
      <p:sp>
        <p:nvSpPr>
          <p:cNvPr id="7" name="Rounded Rectangle 6"/>
          <p:cNvSpPr/>
          <p:nvPr/>
        </p:nvSpPr>
        <p:spPr>
          <a:xfrm>
            <a:off x="10469880" y="658368"/>
            <a:ext cx="960120" cy="658368"/>
          </a:xfrm>
          <a:prstGeom prst="roundRect">
            <a:avLst/>
          </a:prstGeom>
          <a:solidFill>
            <a:srgbClr val="195DB4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/>
            </a:pPr>
            <a:r>
              <a:t>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84280" y="6419088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97D"/>
                </a:solidFill>
              </a:defRPr>
            </a:pPr>
            <a: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0080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A697D"/>
                </a:solidFill>
                <a:latin typeface="Aptos"/>
              </a:defRPr>
            </a:pPr>
            <a:r>
              <a:t>CODSOFT • CYBER SECURITY INTERNSHIP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58368"/>
            <a:ext cx="10789920" cy="640080"/>
          </a:xfrm>
        </p:spPr>
        <p:txBody>
          <a:bodyPr/>
          <a:lstStyle/>
          <a:p>
            <a:pPr>
              <a:defRPr b="1" sz="2800">
                <a:solidFill>
                  <a:srgbClr val="0A192F"/>
                </a:solidFill>
                <a:latin typeface="Aptos Display"/>
              </a:defRPr>
            </a:pPr>
            <a:r>
              <a:t>PRACTICAL SECURITY TIPS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800">
                <a:solidFill>
                  <a:srgbClr val="1C2634"/>
                </a:solidFill>
                <a:latin typeface="Aptos"/>
              </a:defRPr>
            </a:pPr>
            <a:r>
              <a:t>Use strong, unique passwords</a:t>
            </a:r>
          </a:p>
          <a:p>
            <a:pPr>
              <a:spcAft>
                <a:spcPts val="800"/>
              </a:spcAft>
              <a:defRPr sz="1800">
                <a:solidFill>
                  <a:srgbClr val="1C2634"/>
                </a:solidFill>
                <a:latin typeface="Aptos"/>
              </a:defRPr>
            </a:pPr>
            <a:r>
              <a:t>Enable multi-factor authentication</a:t>
            </a:r>
          </a:p>
          <a:p>
            <a:pPr>
              <a:spcAft>
                <a:spcPts val="800"/>
              </a:spcAft>
              <a:defRPr sz="1800">
                <a:solidFill>
                  <a:srgbClr val="1C2634"/>
                </a:solidFill>
                <a:latin typeface="Aptos"/>
              </a:defRPr>
            </a:pPr>
            <a:r>
              <a:t>Keep operating systems and applications updated</a:t>
            </a:r>
          </a:p>
          <a:p>
            <a:pPr>
              <a:spcAft>
                <a:spcPts val="800"/>
              </a:spcAft>
              <a:defRPr sz="1800">
                <a:solidFill>
                  <a:srgbClr val="1C2634"/>
                </a:solidFill>
                <a:latin typeface="Aptos"/>
              </a:defRPr>
            </a:pPr>
            <a:r>
              <a:t>Verify unusual requests through a trusted channel</a:t>
            </a:r>
          </a:p>
          <a:p>
            <a:pPr>
              <a:spcAft>
                <a:spcPts val="800"/>
              </a:spcAft>
              <a:defRPr sz="1800">
                <a:solidFill>
                  <a:srgbClr val="1C2634"/>
                </a:solidFill>
                <a:latin typeface="Aptos"/>
              </a:defRPr>
            </a:pPr>
            <a:r>
              <a:t>Report suspicious messages and websites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C2634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1C2634"/>
                </a:solidFill>
                <a:latin typeface="Aptos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0" y="384048"/>
            <a:ext cx="12191695" cy="64008"/>
          </a:xfrm>
          <a:prstGeom prst="rect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1C2634"/>
                </a:solidFill>
                <a:latin typeface="Aptos"/>
              </a:defRPr>
            </a:pPr>
          </a:p>
        </p:txBody>
      </p:sp>
      <p:sp>
        <p:nvSpPr>
          <p:cNvPr id="7" name="Rounded Rectangle 6"/>
          <p:cNvSpPr/>
          <p:nvPr/>
        </p:nvSpPr>
        <p:spPr>
          <a:xfrm>
            <a:off x="10469880" y="658368"/>
            <a:ext cx="960120" cy="658368"/>
          </a:xfrm>
          <a:prstGeom prst="roundRect">
            <a:avLst/>
          </a:prstGeom>
          <a:solidFill>
            <a:srgbClr val="195DB4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/>
            </a:pPr>
            <a:r>
              <a:t>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84280" y="6419088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97D"/>
                </a:solidFill>
              </a:defRPr>
            </a:pPr>
            <a: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0080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A697D"/>
                </a:solidFill>
                <a:latin typeface="Aptos"/>
              </a:defRPr>
            </a:pPr>
            <a:r>
              <a:t>CODSOFT • CYBER SECURITY INTERNSHIP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58368"/>
            <a:ext cx="10789920" cy="640080"/>
          </a:xfrm>
        </p:spPr>
        <p:txBody>
          <a:bodyPr/>
          <a:lstStyle/>
          <a:p>
            <a:pPr>
              <a:defRPr b="1" sz="2800">
                <a:solidFill>
                  <a:srgbClr val="0A192F"/>
                </a:solidFill>
                <a:latin typeface="Aptos Display"/>
              </a:defRPr>
            </a:pPr>
            <a:r>
              <a:t>CASE STUDY / REAL-LIFE SCENARIO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800">
                <a:solidFill>
                  <a:srgbClr val="1C2634"/>
                </a:solidFill>
                <a:latin typeface="Aptos"/>
              </a:defRPr>
            </a:pPr>
            <a:r>
              <a:t>Scenario: You receive an urgent message claiming your account will be closed.</a:t>
            </a:r>
          </a:p>
          <a:p>
            <a:pPr>
              <a:spcAft>
                <a:spcPts val="800"/>
              </a:spcAft>
              <a:defRPr sz="1800">
                <a:solidFill>
                  <a:srgbClr val="1C2634"/>
                </a:solidFill>
                <a:latin typeface="Aptos"/>
              </a:defRPr>
            </a:pPr>
            <a:r>
              <a:t>The message contains a link asking you to verify your password.</a:t>
            </a:r>
          </a:p>
          <a:p>
            <a:pPr>
              <a:spcAft>
                <a:spcPts val="800"/>
              </a:spcAft>
              <a:defRPr sz="1800">
                <a:solidFill>
                  <a:srgbClr val="1C2634"/>
                </a:solidFill>
                <a:latin typeface="Aptos"/>
              </a:defRPr>
            </a:pPr>
            <a:r>
              <a:t>Safe response: Do not click the link.</a:t>
            </a:r>
          </a:p>
          <a:p>
            <a:pPr>
              <a:spcAft>
                <a:spcPts val="800"/>
              </a:spcAft>
              <a:defRPr sz="1800">
                <a:solidFill>
                  <a:srgbClr val="1C2634"/>
                </a:solidFill>
                <a:latin typeface="Aptos"/>
              </a:defRPr>
            </a:pPr>
            <a:r>
              <a:t>Open the official website or app directly and check your account there.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C2634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1C2634"/>
                </a:solidFill>
                <a:latin typeface="Aptos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0" y="384048"/>
            <a:ext cx="12191695" cy="64008"/>
          </a:xfrm>
          <a:prstGeom prst="rect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1C2634"/>
                </a:solidFill>
                <a:latin typeface="Aptos"/>
              </a:defRPr>
            </a:pPr>
          </a:p>
        </p:txBody>
      </p:sp>
      <p:sp>
        <p:nvSpPr>
          <p:cNvPr id="7" name="Rounded Rectangle 6"/>
          <p:cNvSpPr/>
          <p:nvPr/>
        </p:nvSpPr>
        <p:spPr>
          <a:xfrm>
            <a:off x="10469880" y="658368"/>
            <a:ext cx="960120" cy="658368"/>
          </a:xfrm>
          <a:prstGeom prst="roundRect">
            <a:avLst/>
          </a:prstGeom>
          <a:solidFill>
            <a:srgbClr val="DC414B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/>
            </a:pPr>
            <a:r>
              <a:t>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84280" y="6419088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97D"/>
                </a:solidFill>
              </a:defRPr>
            </a:pPr>
            <a: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0080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A697D"/>
                </a:solidFill>
                <a:latin typeface="Aptos"/>
              </a:defRPr>
            </a:pPr>
            <a:r>
              <a:t>CODSOFT • CYBER SECURITY INTERNSHIP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58368"/>
            <a:ext cx="10789920" cy="640080"/>
          </a:xfrm>
        </p:spPr>
        <p:txBody>
          <a:bodyPr/>
          <a:lstStyle/>
          <a:p>
            <a:pPr>
              <a:defRPr b="1" sz="2800">
                <a:solidFill>
                  <a:srgbClr val="0A192F"/>
                </a:solidFill>
                <a:latin typeface="Aptos Display"/>
              </a:defRPr>
            </a:pPr>
            <a:r>
              <a:t>QUICK QUIZ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800">
                <a:solidFill>
                  <a:srgbClr val="1C2634"/>
                </a:solidFill>
                <a:latin typeface="Aptos"/>
              </a:defRPr>
            </a:pPr>
            <a:r>
              <a:t>1. An email asks you to urgently verify your password through a link. What should you do?</a:t>
            </a:r>
          </a:p>
          <a:p>
            <a:pPr>
              <a:spcAft>
                <a:spcPts val="800"/>
              </a:spcAft>
              <a:defRPr sz="1800">
                <a:solidFill>
                  <a:srgbClr val="1C2634"/>
                </a:solidFill>
                <a:latin typeface="Aptos"/>
              </a:defRPr>
            </a:pPr>
            <a:r>
              <a:t>A) Click immediately  B) Verify through the official website</a:t>
            </a:r>
          </a:p>
          <a:p>
            <a:pPr>
              <a:spcAft>
                <a:spcPts val="1000"/>
              </a:spcAft>
              <a:defRPr sz="2200">
                <a:solidFill>
                  <a:srgbClr val="1C2634"/>
                </a:solidFill>
                <a:latin typeface="Aptos"/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1C2634"/>
                </a:solidFill>
                <a:latin typeface="Aptos"/>
              </a:defRPr>
            </a:pPr>
            <a:r>
              <a:t>2. What should you check before entering credentials?</a:t>
            </a:r>
          </a:p>
          <a:p>
            <a:pPr>
              <a:spcAft>
                <a:spcPts val="800"/>
              </a:spcAft>
              <a:defRPr sz="1800">
                <a:solidFill>
                  <a:srgbClr val="1C2634"/>
                </a:solidFill>
                <a:latin typeface="Aptos"/>
              </a:defRPr>
            </a:pPr>
            <a:r>
              <a:t>A) Website address  B) Number of images on the page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C2634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1C2634"/>
                </a:solidFill>
                <a:latin typeface="Aptos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0" y="384048"/>
            <a:ext cx="12191695" cy="64008"/>
          </a:xfrm>
          <a:prstGeom prst="rect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1C2634"/>
                </a:solidFill>
                <a:latin typeface="Aptos"/>
              </a:defRPr>
            </a:pPr>
          </a:p>
        </p:txBody>
      </p:sp>
      <p:sp>
        <p:nvSpPr>
          <p:cNvPr id="7" name="Rounded Rectangle 6"/>
          <p:cNvSpPr/>
          <p:nvPr/>
        </p:nvSpPr>
        <p:spPr>
          <a:xfrm>
            <a:off x="10469880" y="658368"/>
            <a:ext cx="960120" cy="658368"/>
          </a:xfrm>
          <a:prstGeom prst="roundRect">
            <a:avLst/>
          </a:prstGeom>
          <a:solidFill>
            <a:srgbClr val="195DB4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/>
            </a:pPr>
            <a:r>
              <a:t>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84280" y="6419088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97D"/>
                </a:solidFill>
              </a:defRPr>
            </a:pPr>
            <a: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0080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A697D"/>
                </a:solidFill>
                <a:latin typeface="Aptos"/>
              </a:defRPr>
            </a:pPr>
            <a:r>
              <a:t>CODSOFT • CYBER SECURITY INTERNSHIP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58368"/>
            <a:ext cx="10789920" cy="640080"/>
          </a:xfrm>
        </p:spPr>
        <p:txBody>
          <a:bodyPr/>
          <a:lstStyle/>
          <a:p>
            <a:pPr>
              <a:defRPr b="1" sz="2800">
                <a:solidFill>
                  <a:srgbClr val="0A192F"/>
                </a:solidFill>
                <a:latin typeface="Aptos Display"/>
              </a:defRPr>
            </a:pPr>
            <a:r>
              <a:t>QUIZ ANSWERS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800">
                <a:solidFill>
                  <a:srgbClr val="1C2634"/>
                </a:solidFill>
                <a:latin typeface="Aptos"/>
              </a:defRPr>
            </a:pPr>
            <a:r>
              <a:t>1. B — Verify through the official website</a:t>
            </a:r>
          </a:p>
          <a:p>
            <a:pPr>
              <a:spcAft>
                <a:spcPts val="800"/>
              </a:spcAft>
              <a:defRPr sz="1800">
                <a:solidFill>
                  <a:srgbClr val="1C2634"/>
                </a:solidFill>
                <a:latin typeface="Aptos"/>
              </a:defRPr>
            </a:pPr>
            <a:r>
              <a:t>2. A — Check the website address</a:t>
            </a:r>
          </a:p>
          <a:p>
            <a:pPr>
              <a:spcAft>
                <a:spcPts val="800"/>
              </a:spcAft>
              <a:defRPr sz="1800">
                <a:solidFill>
                  <a:srgbClr val="1C2634"/>
                </a:solidFill>
                <a:latin typeface="Aptos"/>
              </a:defRPr>
            </a:pPr>
            <a:r>
              <a:t>Key lesson: Stop, verify, and think before clicking.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C2634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1C2634"/>
                </a:solidFill>
                <a:latin typeface="Aptos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0" y="384048"/>
            <a:ext cx="12191695" cy="64008"/>
          </a:xfrm>
          <a:prstGeom prst="rect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1C2634"/>
                </a:solidFill>
                <a:latin typeface="Aptos"/>
              </a:defRPr>
            </a:pPr>
          </a:p>
        </p:txBody>
      </p:sp>
      <p:sp>
        <p:nvSpPr>
          <p:cNvPr id="7" name="Rounded Rectangle 6"/>
          <p:cNvSpPr/>
          <p:nvPr/>
        </p:nvSpPr>
        <p:spPr>
          <a:xfrm>
            <a:off x="10469880" y="658368"/>
            <a:ext cx="960120" cy="658368"/>
          </a:xfrm>
          <a:prstGeom prst="roundRect">
            <a:avLst/>
          </a:prstGeom>
          <a:solidFill>
            <a:srgbClr val="195DB4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/>
            </a:pPr>
            <a: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84280" y="6419088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97D"/>
                </a:solidFill>
              </a:defRPr>
            </a:pPr>
            <a: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0080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A697D"/>
                </a:solidFill>
                <a:latin typeface="Aptos"/>
              </a:defRPr>
            </a:pPr>
            <a:r>
              <a:t>CODSOFT • CYBER SECURITY INTERNSHIP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58368"/>
            <a:ext cx="10789920" cy="640080"/>
          </a:xfrm>
        </p:spPr>
        <p:txBody>
          <a:bodyPr/>
          <a:lstStyle/>
          <a:p>
            <a:pPr>
              <a:defRPr b="1" sz="2800">
                <a:solidFill>
                  <a:srgbClr val="0A192F"/>
                </a:solidFill>
                <a:latin typeface="Aptos Display"/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800">
                <a:solidFill>
                  <a:srgbClr val="1C2634"/>
                </a:solidFill>
                <a:latin typeface="Aptos"/>
              </a:defRPr>
            </a:pPr>
            <a:r>
              <a:t>Phishing attacks rely heavily on deception and social engineering.</a:t>
            </a:r>
          </a:p>
          <a:p>
            <a:pPr>
              <a:spcAft>
                <a:spcPts val="800"/>
              </a:spcAft>
              <a:defRPr sz="1800">
                <a:solidFill>
                  <a:srgbClr val="1C2634"/>
                </a:solidFill>
                <a:latin typeface="Aptos"/>
              </a:defRPr>
            </a:pPr>
            <a:r>
              <a:t>Carefully checking messages, links, and websites can reduce risk.</a:t>
            </a:r>
          </a:p>
          <a:p>
            <a:pPr>
              <a:spcAft>
                <a:spcPts val="800"/>
              </a:spcAft>
              <a:defRPr sz="1800">
                <a:solidFill>
                  <a:srgbClr val="1C2634"/>
                </a:solidFill>
                <a:latin typeface="Aptos"/>
              </a:defRPr>
            </a:pPr>
            <a:r>
              <a:t>Use strong authentication and report suspicious activity.</a:t>
            </a:r>
          </a:p>
          <a:p>
            <a:pPr>
              <a:spcAft>
                <a:spcPts val="800"/>
              </a:spcAft>
              <a:defRPr sz="1800">
                <a:solidFill>
                  <a:srgbClr val="1C2634"/>
                </a:solidFill>
                <a:latin typeface="Aptos"/>
              </a:defRPr>
            </a:pPr>
            <a:r>
              <a:t>Stay alert — cybersecurity starts with informed users.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C2634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1C2634"/>
                </a:solidFill>
                <a:latin typeface="Aptos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0" y="384048"/>
            <a:ext cx="12191695" cy="64008"/>
          </a:xfrm>
          <a:prstGeom prst="rect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1C2634"/>
                </a:solidFill>
                <a:latin typeface="Aptos"/>
              </a:defRPr>
            </a:pPr>
          </a:p>
        </p:txBody>
      </p:sp>
      <p:sp>
        <p:nvSpPr>
          <p:cNvPr id="7" name="Rounded Rectangle 6"/>
          <p:cNvSpPr/>
          <p:nvPr/>
        </p:nvSpPr>
        <p:spPr>
          <a:xfrm>
            <a:off x="10469880" y="658368"/>
            <a:ext cx="960120" cy="658368"/>
          </a:xfrm>
          <a:prstGeom prst="roundRect">
            <a:avLst/>
          </a:prstGeom>
          <a:solidFill>
            <a:srgbClr val="195DB4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/>
            </a:pPr>
            <a:r>
              <a:t>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84280" y="6419088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97D"/>
                </a:solidFill>
              </a:defRPr>
            </a:pPr>
            <a: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0080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A697D"/>
                </a:solidFill>
                <a:latin typeface="Aptos"/>
              </a:defRPr>
            </a:pPr>
            <a:r>
              <a:t>CODSOFT • CYBER SECURITY INTERNSHIP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58368"/>
            <a:ext cx="10789920" cy="640080"/>
          </a:xfrm>
        </p:spPr>
        <p:txBody>
          <a:bodyPr/>
          <a:lstStyle/>
          <a:p>
            <a:pPr>
              <a:defRPr b="1" sz="2800">
                <a:solidFill>
                  <a:srgbClr val="0A192F"/>
                </a:solidFill>
                <a:latin typeface="Aptos Display"/>
              </a:defRPr>
            </a:pPr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800">
                <a:solidFill>
                  <a:srgbClr val="1C2634"/>
                </a:solidFill>
                <a:latin typeface="Aptos"/>
              </a:defRPr>
            </a:pPr>
            <a:r>
              <a:t>Stay Alert. Think Before You Click.</a:t>
            </a:r>
          </a:p>
          <a:p>
            <a:pPr>
              <a:spcAft>
                <a:spcPts val="800"/>
              </a:spcAft>
              <a:defRPr sz="1800">
                <a:solidFill>
                  <a:srgbClr val="1C2634"/>
                </a:solidFill>
                <a:latin typeface="Aptos"/>
              </a:defRPr>
            </a:pPr>
            <a:r>
              <a:t>#codsoft  #cybersecurity  #internship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C2634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1C2634"/>
                </a:solidFill>
                <a:latin typeface="Aptos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0" y="384048"/>
            <a:ext cx="12191695" cy="64008"/>
          </a:xfrm>
          <a:prstGeom prst="rect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1C2634"/>
                </a:solidFill>
                <a:latin typeface="Aptos"/>
              </a:defRPr>
            </a:pPr>
          </a:p>
        </p:txBody>
      </p:sp>
      <p:sp>
        <p:nvSpPr>
          <p:cNvPr id="7" name="Rounded Rectangle 6"/>
          <p:cNvSpPr/>
          <p:nvPr/>
        </p:nvSpPr>
        <p:spPr>
          <a:xfrm>
            <a:off x="10469880" y="658368"/>
            <a:ext cx="960120" cy="658368"/>
          </a:xfrm>
          <a:prstGeom prst="roundRect">
            <a:avLst/>
          </a:prstGeom>
          <a:solidFill>
            <a:srgbClr val="195DB4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/>
            </a:pPr>
            <a: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84280" y="6419088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97D"/>
                </a:solidFill>
              </a:defRPr>
            </a:pPr>
            <a: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0080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A697D"/>
                </a:solidFill>
                <a:latin typeface="Aptos"/>
              </a:defRPr>
            </a:pPr>
            <a:r>
              <a:t>CODSOFT • CYBER SECURITY INTERNSHIP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